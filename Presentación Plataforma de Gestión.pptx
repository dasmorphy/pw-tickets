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c3df41e-9138-f351-8cf0-09d1c4751d52}">
          <p14:sldIdLst>
            <p14:sldId id="256"/>
          </p14:sldIdLst>
        </p14:section>
        <p14:section name="Contenido" id="{6cf8e512-c0a6-0d52-5e8c-148c52bb060e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la plataforma interna que reemplaza el manejo de casos en GLPI. El objetivo de hoy es que cada área entienda qué cambia, qué gana y qué se espera de ella para adoptarla.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GLPI resolvía la mesa de ayuda, pero no el flujo entre áreas. Los problemas reales fueron: no saber en qué área estaba un caso, información y archivos dispersos, proformas incompletas por materiales mal indicados, bodega en Excel y la falta de aprobaciones formales. Cada problema tiene una respuesta concreta en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avanza por cinco etapas. Los pasos marcados con visto son aprobaciones: el caso no pasa a la siguiente área sin el visto bueno de la anterior. Solo una cotización aprobada crea el proyecto, habilita la bodega y define el valor que se factura. Cuando la factura se marca como cobrada, el caso se cierra.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Bodega deja el Excel en Drive. Las entregas se hacen por proyecto, contra la proforma aprobada: el sistema no permite entregar más de lo cotizado ni más de lo que hay en stock, y descuenta el inventario en el mismo momento. Si la proforma incluye un producto nuevo, queda como pendiente y bodega lo crea en el catálogo cuando llega, con su stock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plataforma solo funciona si es el único canal. A la gerencia le da visibilidad y datos confiables; a cambio, cada área se compromete con su parte: técnica registra materiales completos, comercial cotiza en el sistema, bodega mantiene el inventario, financiera registra facturas y cobros, y las jefaturas aprueban a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ido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6309360"/>
            <a:ext cx="155448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3" name="Image 0" descr="C:\Users\USER\AppData\Local\Temp\claude\C--Users-USER-Desktop-Daniel-pw-tickets\346e8d5b-23c7-4a5a-8af6-9401012a4352\scratchpad\pptx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28" y="6345936"/>
            <a:ext cx="1243584" cy="299081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Título</a:t>
            </a: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TeleArseg" descr="Logo TeleArs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048" y="1600200"/>
            <a:ext cx="3657600" cy="879651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1097280" y="288036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Plataforma de Gestión de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Inspecciones y Proyectos</a:t>
            </a:r>
            <a:endParaRPr lang="en-US" sz="3800" dirty="0"/>
          </a:p>
        </p:txBody>
      </p:sp>
      <p:sp>
        <p:nvSpPr>
          <p:cNvPr id="4" name="Subtítulo"/>
          <p:cNvSpPr txBox="1"/>
          <p:nvPr/>
        </p:nvSpPr>
        <p:spPr>
          <a:xfrm>
            <a:off x="1737360" y="4389120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 solo flujo, trazable y con aprobaciones, entre Técnica, Comercial, Proyectos, Bodega y Financiera</a:t>
            </a:r>
            <a:endParaRPr lang="en-US" sz="1800" dirty="0"/>
          </a:p>
        </p:txBody>
      </p:sp>
      <p:sp>
        <p:nvSpPr>
          <p:cNvPr id="5" name="Audiencia"/>
          <p:cNvSpPr/>
          <p:nvPr/>
        </p:nvSpPr>
        <p:spPr>
          <a:xfrm>
            <a:off x="3630168" y="5577840"/>
            <a:ext cx="4937760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55000"/>
              </a:schemeClr>
            </a:solidFill>
            <a:prstDash val="solid"/>
          </a:ln>
        </p:spPr>
      </p:sp>
      <p:sp>
        <p:nvSpPr>
          <p:cNvPr id="6" name="Audiencia texto"/>
          <p:cNvSpPr txBox="1"/>
          <p:nvPr/>
        </p:nvSpPr>
        <p:spPr>
          <a:xfrm>
            <a:off x="3630168" y="55778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Gerencia y jefaturas de área · 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Por qué dejamos GLPI</a:t>
            </a:r>
            <a:endParaRPr lang="en-US" sz="3200" dirty="0"/>
          </a:p>
        </p:txBody>
      </p:sp>
      <p:sp>
        <p:nvSpPr>
          <p:cNvPr id="3" name="Encabezado antes"/>
          <p:cNvSpPr/>
          <p:nvPr/>
        </p:nvSpPr>
        <p:spPr>
          <a:xfrm>
            <a:off x="640080" y="1417320"/>
            <a:ext cx="237744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Encabezado antes texto"/>
          <p:cNvSpPr txBox="1"/>
          <p:nvPr/>
        </p:nvSpPr>
        <p:spPr>
          <a:xfrm>
            <a:off x="64008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ANTES · GLPI</a:t>
            </a:r>
            <a:endParaRPr lang="en-US" sz="1300" dirty="0"/>
          </a:p>
        </p:txBody>
      </p:sp>
      <p:sp>
        <p:nvSpPr>
          <p:cNvPr id="5" name="Encabezado ahora"/>
          <p:cNvSpPr/>
          <p:nvPr/>
        </p:nvSpPr>
        <p:spPr>
          <a:xfrm>
            <a:off x="6446520" y="1417320"/>
            <a:ext cx="36576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Encabezado ahora texto"/>
          <p:cNvSpPr txBox="1"/>
          <p:nvPr/>
        </p:nvSpPr>
        <p:spPr>
          <a:xfrm>
            <a:off x="6446520" y="1417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AHORA · PLATAFORMA PROPIA</a:t>
            </a:r>
            <a:endParaRPr lang="en-US" sz="1300" dirty="0"/>
          </a:p>
        </p:txBody>
      </p:sp>
      <p:sp>
        <p:nvSpPr>
          <p:cNvPr id="7" name="Antes 1"/>
          <p:cNvSpPr/>
          <p:nvPr/>
        </p:nvSpPr>
        <p:spPr>
          <a:xfrm>
            <a:off x="640080" y="2011680"/>
            <a:ext cx="516636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8" name="Antes 1 marca"/>
          <p:cNvSpPr/>
          <p:nvPr/>
        </p:nvSpPr>
        <p:spPr>
          <a:xfrm>
            <a:off x="804672" y="2167128"/>
            <a:ext cx="420624" cy="420624"/>
          </a:xfrm>
          <a:prstGeom prst="ellipse">
            <a:avLst/>
          </a:prstGeom>
          <a:solidFill>
            <a:schemeClr val="accent5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9" name="Antes 1 marca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2276490"/>
            <a:ext cx="201900" cy="201900"/>
          </a:xfrm>
          <a:prstGeom prst="rect">
            <a:avLst/>
          </a:prstGeom>
        </p:spPr>
      </p:pic>
      <p:sp>
        <p:nvSpPr>
          <p:cNvPr id="10" name="Antes 1 texto"/>
          <p:cNvSpPr txBox="1"/>
          <p:nvPr/>
        </p:nvSpPr>
        <p:spPr>
          <a:xfrm>
            <a:off x="1371600" y="2011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Historial lleno de comentarios: difícil saber en qué área está cada caso</a:t>
            </a:r>
            <a:endParaRPr lang="en-US" sz="1400" dirty="0"/>
          </a:p>
        </p:txBody>
      </p:sp>
      <p:pic>
        <p:nvPicPr>
          <p:cNvPr id="11" name="Flech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231136"/>
            <a:ext cx="292608" cy="292608"/>
          </a:xfrm>
          <a:prstGeom prst="rect">
            <a:avLst/>
          </a:prstGeom>
        </p:spPr>
      </p:pic>
      <p:sp>
        <p:nvSpPr>
          <p:cNvPr id="12" name="Ahora 1"/>
          <p:cNvSpPr/>
          <p:nvPr/>
        </p:nvSpPr>
        <p:spPr>
          <a:xfrm>
            <a:off x="6446520" y="2011680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3" name="Ahora 1 marca"/>
          <p:cNvSpPr/>
          <p:nvPr/>
        </p:nvSpPr>
        <p:spPr>
          <a:xfrm>
            <a:off x="6611112" y="2167128"/>
            <a:ext cx="420624" cy="420624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14" name="Ahora 1 marca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474" y="2276490"/>
            <a:ext cx="201900" cy="201900"/>
          </a:xfrm>
          <a:prstGeom prst="rect">
            <a:avLst/>
          </a:prstGeom>
        </p:spPr>
      </p:pic>
      <p:sp>
        <p:nvSpPr>
          <p:cNvPr id="15" name="Ahora 1 texto"/>
          <p:cNvSpPr txBox="1"/>
          <p:nvPr/>
        </p:nvSpPr>
        <p:spPr>
          <a:xfrm>
            <a:off x="7178040" y="201168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Cada caso muestra su área actual, su estado y el historial de traspasos</a:t>
            </a:r>
            <a:endParaRPr lang="en-US" sz="1400" dirty="0"/>
          </a:p>
        </p:txBody>
      </p:sp>
      <p:sp>
        <p:nvSpPr>
          <p:cNvPr id="16" name="Antes 2"/>
          <p:cNvSpPr/>
          <p:nvPr/>
        </p:nvSpPr>
        <p:spPr>
          <a:xfrm>
            <a:off x="640080" y="2852928"/>
            <a:ext cx="516636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7" name="Antes 2 marca"/>
          <p:cNvSpPr/>
          <p:nvPr/>
        </p:nvSpPr>
        <p:spPr>
          <a:xfrm>
            <a:off x="804672" y="3008376"/>
            <a:ext cx="420624" cy="420624"/>
          </a:xfrm>
          <a:prstGeom prst="ellipse">
            <a:avLst/>
          </a:prstGeom>
          <a:solidFill>
            <a:schemeClr val="accent5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18" name="Antes 2 marca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34" y="3117738"/>
            <a:ext cx="201900" cy="201900"/>
          </a:xfrm>
          <a:prstGeom prst="rect">
            <a:avLst/>
          </a:prstGeom>
        </p:spPr>
      </p:pic>
      <p:sp>
        <p:nvSpPr>
          <p:cNvPr id="19" name="Antes 2 texto"/>
          <p:cNvSpPr txBox="1"/>
          <p:nvPr/>
        </p:nvSpPr>
        <p:spPr>
          <a:xfrm>
            <a:off x="1371600" y="28529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Información inconsistente y archivos difíciles de encontrar</a:t>
            </a:r>
            <a:endParaRPr lang="en-US" sz="1400" dirty="0"/>
          </a:p>
        </p:txBody>
      </p:sp>
      <p:pic>
        <p:nvPicPr>
          <p:cNvPr id="20" name="Flecha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3072384"/>
            <a:ext cx="292608" cy="292608"/>
          </a:xfrm>
          <a:prstGeom prst="rect">
            <a:avLst/>
          </a:prstGeom>
        </p:spPr>
      </p:pic>
      <p:sp>
        <p:nvSpPr>
          <p:cNvPr id="21" name="Ahora 2"/>
          <p:cNvSpPr/>
          <p:nvPr/>
        </p:nvSpPr>
        <p:spPr>
          <a:xfrm>
            <a:off x="6446520" y="2852928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22" name="Ahora 2 marca"/>
          <p:cNvSpPr/>
          <p:nvPr/>
        </p:nvSpPr>
        <p:spPr>
          <a:xfrm>
            <a:off x="6611112" y="3008376"/>
            <a:ext cx="420624" cy="420624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23" name="Ahora 2 marca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474" y="3117738"/>
            <a:ext cx="201900" cy="201900"/>
          </a:xfrm>
          <a:prstGeom prst="rect">
            <a:avLst/>
          </a:prstGeom>
        </p:spPr>
      </p:pic>
      <p:sp>
        <p:nvSpPr>
          <p:cNvPr id="24" name="Ahora 2 texto"/>
          <p:cNvSpPr txBox="1"/>
          <p:nvPr/>
        </p:nvSpPr>
        <p:spPr>
          <a:xfrm>
            <a:off x="7178040" y="285292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Datos en una sola base y documentos adjuntos a cada inspección</a:t>
            </a:r>
            <a:endParaRPr lang="en-US" sz="1400" dirty="0"/>
          </a:p>
        </p:txBody>
      </p:sp>
      <p:sp>
        <p:nvSpPr>
          <p:cNvPr id="25" name="Antes 3"/>
          <p:cNvSpPr/>
          <p:nvPr/>
        </p:nvSpPr>
        <p:spPr>
          <a:xfrm>
            <a:off x="640080" y="3694176"/>
            <a:ext cx="516636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26" name="Antes 3 marca"/>
          <p:cNvSpPr/>
          <p:nvPr/>
        </p:nvSpPr>
        <p:spPr>
          <a:xfrm>
            <a:off x="804672" y="3849624"/>
            <a:ext cx="420624" cy="420624"/>
          </a:xfrm>
          <a:prstGeom prst="ellipse">
            <a:avLst/>
          </a:prstGeom>
          <a:solidFill>
            <a:schemeClr val="accent5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27" name="Antes 3 marca i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034" y="3958986"/>
            <a:ext cx="201900" cy="201900"/>
          </a:xfrm>
          <a:prstGeom prst="rect">
            <a:avLst/>
          </a:prstGeom>
        </p:spPr>
      </p:pic>
      <p:sp>
        <p:nvSpPr>
          <p:cNvPr id="28" name="Antes 3 texto"/>
          <p:cNvSpPr txBox="1"/>
          <p:nvPr/>
        </p:nvSpPr>
        <p:spPr>
          <a:xfrm>
            <a:off x="1371600" y="36941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Materiales mal indicados: proformas incompletas y culpas entre áreas</a:t>
            </a:r>
            <a:endParaRPr lang="en-US" sz="1400" dirty="0"/>
          </a:p>
        </p:txBody>
      </p:sp>
      <p:pic>
        <p:nvPicPr>
          <p:cNvPr id="29" name="Flecha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1032" y="3913632"/>
            <a:ext cx="292608" cy="292608"/>
          </a:xfrm>
          <a:prstGeom prst="rect">
            <a:avLst/>
          </a:prstGeom>
        </p:spPr>
      </p:pic>
      <p:sp>
        <p:nvSpPr>
          <p:cNvPr id="30" name="Ahora 3"/>
          <p:cNvSpPr/>
          <p:nvPr/>
        </p:nvSpPr>
        <p:spPr>
          <a:xfrm>
            <a:off x="6446520" y="3694176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31" name="Ahora 3 marca"/>
          <p:cNvSpPr/>
          <p:nvPr/>
        </p:nvSpPr>
        <p:spPr>
          <a:xfrm>
            <a:off x="6611112" y="3849624"/>
            <a:ext cx="420624" cy="420624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32" name="Ahora 3 marca icon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474" y="3958986"/>
            <a:ext cx="201900" cy="201900"/>
          </a:xfrm>
          <a:prstGeom prst="rect">
            <a:avLst/>
          </a:prstGeom>
        </p:spPr>
      </p:pic>
      <p:sp>
        <p:nvSpPr>
          <p:cNvPr id="33" name="Ahora 3 texto"/>
          <p:cNvSpPr txBox="1"/>
          <p:nvPr/>
        </p:nvSpPr>
        <p:spPr>
          <a:xfrm>
            <a:off x="7178040" y="3694176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Los materiales que registra el técnico alimentan la proforma</a:t>
            </a:r>
            <a:endParaRPr lang="en-US" sz="1400" dirty="0"/>
          </a:p>
        </p:txBody>
      </p:sp>
      <p:sp>
        <p:nvSpPr>
          <p:cNvPr id="34" name="Antes 4"/>
          <p:cNvSpPr/>
          <p:nvPr/>
        </p:nvSpPr>
        <p:spPr>
          <a:xfrm>
            <a:off x="640080" y="4535424"/>
            <a:ext cx="516636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35" name="Antes 4 marca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chemeClr val="accent5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36" name="Antes 4 marca icono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034" y="4800234"/>
            <a:ext cx="201900" cy="201900"/>
          </a:xfrm>
          <a:prstGeom prst="rect">
            <a:avLst/>
          </a:prstGeom>
        </p:spPr>
      </p:pic>
      <p:sp>
        <p:nvSpPr>
          <p:cNvPr id="37" name="Antes 4 texto"/>
          <p:cNvSpPr txBox="1"/>
          <p:nvPr/>
        </p:nvSpPr>
        <p:spPr>
          <a:xfrm>
            <a:off x="1371600" y="453542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Bodega controlada en un Excel dentro de Drive</a:t>
            </a:r>
            <a:endParaRPr lang="en-US" sz="1400" dirty="0"/>
          </a:p>
        </p:txBody>
      </p:sp>
      <p:pic>
        <p:nvPicPr>
          <p:cNvPr id="38" name="Flecha 4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1032" y="4754880"/>
            <a:ext cx="292608" cy="292608"/>
          </a:xfrm>
          <a:prstGeom prst="rect">
            <a:avLst/>
          </a:prstGeom>
        </p:spPr>
      </p:pic>
      <p:sp>
        <p:nvSpPr>
          <p:cNvPr id="39" name="Ahora 4"/>
          <p:cNvSpPr/>
          <p:nvPr/>
        </p:nvSpPr>
        <p:spPr>
          <a:xfrm>
            <a:off x="6446520" y="4535424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40" name="Ahora 4 marca"/>
          <p:cNvSpPr/>
          <p:nvPr/>
        </p:nvSpPr>
        <p:spPr>
          <a:xfrm>
            <a:off x="6611112" y="4690872"/>
            <a:ext cx="420624" cy="420624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41" name="Ahora 4 marca icono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474" y="4800234"/>
            <a:ext cx="201900" cy="201900"/>
          </a:xfrm>
          <a:prstGeom prst="rect">
            <a:avLst/>
          </a:prstGeom>
        </p:spPr>
      </p:pic>
      <p:sp>
        <p:nvSpPr>
          <p:cNvPr id="42" name="Ahora 4 texto"/>
          <p:cNvSpPr txBox="1"/>
          <p:nvPr/>
        </p:nvSpPr>
        <p:spPr>
          <a:xfrm>
            <a:off x="7178040" y="453542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Inventario en línea que se descuenta en cada entrega</a:t>
            </a:r>
            <a:endParaRPr lang="en-US" sz="1400" dirty="0"/>
          </a:p>
        </p:txBody>
      </p:sp>
      <p:sp>
        <p:nvSpPr>
          <p:cNvPr id="43" name="Antes 5"/>
          <p:cNvSpPr/>
          <p:nvPr/>
        </p:nvSpPr>
        <p:spPr>
          <a:xfrm>
            <a:off x="640080" y="5376672"/>
            <a:ext cx="516636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44" name="Antes 5 marca"/>
          <p:cNvSpPr/>
          <p:nvPr/>
        </p:nvSpPr>
        <p:spPr>
          <a:xfrm>
            <a:off x="804672" y="5532120"/>
            <a:ext cx="420624" cy="420624"/>
          </a:xfrm>
          <a:prstGeom prst="ellipse">
            <a:avLst/>
          </a:prstGeom>
          <a:solidFill>
            <a:schemeClr val="accent5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45" name="Antes 5 marca icono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034" y="5641482"/>
            <a:ext cx="201900" cy="201900"/>
          </a:xfrm>
          <a:prstGeom prst="rect">
            <a:avLst/>
          </a:prstGeom>
        </p:spPr>
      </p:pic>
      <p:sp>
        <p:nvSpPr>
          <p:cNvPr id="46" name="Antes 5 texto"/>
          <p:cNvSpPr txBox="1"/>
          <p:nvPr/>
        </p:nvSpPr>
        <p:spPr>
          <a:xfrm>
            <a:off x="1371600" y="537667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Sin aprobaciones formales: malentendidos al pasar de un área a otra</a:t>
            </a:r>
            <a:endParaRPr lang="en-US" sz="1400" dirty="0"/>
          </a:p>
        </p:txBody>
      </p:sp>
      <p:pic>
        <p:nvPicPr>
          <p:cNvPr id="47" name="Flecha 5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1032" y="5596128"/>
            <a:ext cx="292608" cy="292608"/>
          </a:xfrm>
          <a:prstGeom prst="rect">
            <a:avLst/>
          </a:prstGeom>
        </p:spPr>
      </p:pic>
      <p:sp>
        <p:nvSpPr>
          <p:cNvPr id="48" name="Ahora 5"/>
          <p:cNvSpPr/>
          <p:nvPr/>
        </p:nvSpPr>
        <p:spPr>
          <a:xfrm>
            <a:off x="6446520" y="5376672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49" name="Ahora 5 marca"/>
          <p:cNvSpPr/>
          <p:nvPr/>
        </p:nvSpPr>
        <p:spPr>
          <a:xfrm>
            <a:off x="6611112" y="5532120"/>
            <a:ext cx="420624" cy="420624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50" name="Ahora 5 marca icono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0474" y="5641482"/>
            <a:ext cx="201900" cy="201900"/>
          </a:xfrm>
          <a:prstGeom prst="rect">
            <a:avLst/>
          </a:prstGeom>
        </p:spPr>
      </p:pic>
      <p:sp>
        <p:nvSpPr>
          <p:cNvPr id="51" name="Ahora 5 texto"/>
          <p:cNvSpPr txBox="1"/>
          <p:nvPr/>
        </p:nvSpPr>
        <p:spPr>
          <a:xfrm>
            <a:off x="7178040" y="537667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Cada área aprueba y da su visto bueno antes de continuar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Un flujo claro entre áreas, con aprobaciones</a:t>
            </a:r>
            <a:endParaRPr lang="en-US" sz="3200" dirty="0"/>
          </a:p>
        </p:txBody>
      </p:sp>
      <p:sp>
        <p:nvSpPr>
          <p:cNvPr id="3" name="Paso 1"/>
          <p:cNvSpPr/>
          <p:nvPr/>
        </p:nvSpPr>
        <p:spPr>
          <a:xfrm>
            <a:off x="640080" y="1508760"/>
            <a:ext cx="2011680" cy="3611880"/>
          </a:xfrm>
          <a:prstGeom prst="roundRect">
            <a:avLst>
              <a:gd name="adj" fmla="val 5455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4" name="Paso 1 ícono"/>
          <p:cNvSpPr/>
          <p:nvPr/>
        </p:nvSpPr>
        <p:spPr>
          <a:xfrm>
            <a:off x="1280160" y="1783080"/>
            <a:ext cx="731520" cy="7315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5" name="Paso 1 ícono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355" y="1973275"/>
            <a:ext cx="351130" cy="351130"/>
          </a:xfrm>
          <a:prstGeom prst="rect">
            <a:avLst/>
          </a:prstGeom>
        </p:spPr>
      </p:pic>
      <p:sp>
        <p:nvSpPr>
          <p:cNvPr id="6" name="Paso 1 número"/>
          <p:cNvSpPr txBox="1"/>
          <p:nvPr/>
        </p:nvSpPr>
        <p:spPr>
          <a:xfrm>
            <a:off x="77724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Paso 1 área"/>
          <p:cNvSpPr txBox="1"/>
          <p:nvPr/>
        </p:nvSpPr>
        <p:spPr>
          <a:xfrm>
            <a:off x="749808" y="265176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Inspección</a:t>
            </a:r>
            <a:endParaRPr lang="en-US" sz="1600" dirty="0"/>
          </a:p>
        </p:txBody>
      </p:sp>
      <p:sp>
        <p:nvSpPr>
          <p:cNvPr id="8" name="Paso 1 detalle"/>
          <p:cNvSpPr txBox="1"/>
          <p:nvPr/>
        </p:nvSpPr>
        <p:spPr>
          <a:xfrm>
            <a:off x="777240" y="33832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 registra la solicitud: cliente, ubicación, prioridad y documentos</a:t>
            </a:r>
            <a:endParaRPr lang="en-US" sz="1400" dirty="0"/>
          </a:p>
        </p:txBody>
      </p:sp>
      <p:sp>
        <p:nvSpPr>
          <p:cNvPr id="9" name="Paso 1 resultado"/>
          <p:cNvSpPr/>
          <p:nvPr/>
        </p:nvSpPr>
        <p:spPr>
          <a:xfrm>
            <a:off x="640080" y="534924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55000"/>
              </a:schemeClr>
            </a:solidFill>
            <a:prstDash val="solid"/>
          </a:ln>
        </p:spPr>
      </p:sp>
      <p:sp>
        <p:nvSpPr>
          <p:cNvPr id="10" name="Paso 1 resultado texto"/>
          <p:cNvSpPr txBox="1"/>
          <p:nvPr/>
        </p:nvSpPr>
        <p:spPr>
          <a:xfrm>
            <a:off x="731520" y="5349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Caso creado</a:t>
            </a:r>
            <a:endParaRPr lang="en-US" sz="1100" dirty="0"/>
          </a:p>
        </p:txBody>
      </p:sp>
      <p:sp>
        <p:nvSpPr>
          <p:cNvPr id="11" name="Paso 2"/>
          <p:cNvSpPr/>
          <p:nvPr/>
        </p:nvSpPr>
        <p:spPr>
          <a:xfrm>
            <a:off x="2852928" y="1508760"/>
            <a:ext cx="2011680" cy="3611880"/>
          </a:xfrm>
          <a:prstGeom prst="roundRect">
            <a:avLst>
              <a:gd name="adj" fmla="val 5455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2" name="Paso 2 ícono"/>
          <p:cNvSpPr/>
          <p:nvPr/>
        </p:nvSpPr>
        <p:spPr>
          <a:xfrm>
            <a:off x="3493008" y="1783080"/>
            <a:ext cx="731520" cy="7315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13" name="Paso 2 ícon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203" y="1973275"/>
            <a:ext cx="351130" cy="351130"/>
          </a:xfrm>
          <a:prstGeom prst="rect">
            <a:avLst/>
          </a:prstGeom>
        </p:spPr>
      </p:pic>
      <p:sp>
        <p:nvSpPr>
          <p:cNvPr id="14" name="Paso 2 número"/>
          <p:cNvSpPr txBox="1"/>
          <p:nvPr/>
        </p:nvSpPr>
        <p:spPr>
          <a:xfrm>
            <a:off x="2990088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Paso 2 área"/>
          <p:cNvSpPr txBox="1"/>
          <p:nvPr/>
        </p:nvSpPr>
        <p:spPr>
          <a:xfrm>
            <a:off x="2962656" y="265176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Técnica</a:t>
            </a:r>
            <a:endParaRPr lang="en-US" sz="1600" dirty="0"/>
          </a:p>
        </p:txBody>
      </p:sp>
      <p:sp>
        <p:nvSpPr>
          <p:cNvPr id="16" name="Paso 2 detalle"/>
          <p:cNvSpPr txBox="1"/>
          <p:nvPr/>
        </p:nvSpPr>
        <p:spPr>
          <a:xfrm>
            <a:off x="2990088" y="33832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Visita en sitio y definición de los materiales necesarios</a:t>
            </a:r>
            <a:endParaRPr lang="en-US" sz="1400" dirty="0"/>
          </a:p>
        </p:txBody>
      </p:sp>
      <p:sp>
        <p:nvSpPr>
          <p:cNvPr id="17" name="Paso 2 resultado"/>
          <p:cNvSpPr/>
          <p:nvPr/>
        </p:nvSpPr>
        <p:spPr>
          <a:xfrm>
            <a:off x="2852928" y="534924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Paso 2 vist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44" y="5468112"/>
            <a:ext cx="219456" cy="219456"/>
          </a:xfrm>
          <a:prstGeom prst="rect">
            <a:avLst/>
          </a:prstGeom>
        </p:spPr>
      </p:pic>
      <p:sp>
        <p:nvSpPr>
          <p:cNvPr id="19" name="Paso 2 resultado texto"/>
          <p:cNvSpPr txBox="1"/>
          <p:nvPr/>
        </p:nvSpPr>
        <p:spPr>
          <a:xfrm>
            <a:off x="3182112" y="53492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Técnica aprueba</a:t>
            </a:r>
            <a:endParaRPr lang="en-US" sz="1100" dirty="0"/>
          </a:p>
        </p:txBody>
      </p:sp>
      <p:sp>
        <p:nvSpPr>
          <p:cNvPr id="20" name="Paso 3"/>
          <p:cNvSpPr/>
          <p:nvPr/>
        </p:nvSpPr>
        <p:spPr>
          <a:xfrm>
            <a:off x="5065776" y="1508760"/>
            <a:ext cx="2011680" cy="3611880"/>
          </a:xfrm>
          <a:prstGeom prst="roundRect">
            <a:avLst>
              <a:gd name="adj" fmla="val 5455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21" name="Paso 3 ícono"/>
          <p:cNvSpPr/>
          <p:nvPr/>
        </p:nvSpPr>
        <p:spPr>
          <a:xfrm>
            <a:off x="5705856" y="1783080"/>
            <a:ext cx="731520" cy="7315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22" name="Paso 3 ícono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051" y="1973275"/>
            <a:ext cx="351130" cy="351130"/>
          </a:xfrm>
          <a:prstGeom prst="rect">
            <a:avLst/>
          </a:prstGeom>
        </p:spPr>
      </p:pic>
      <p:sp>
        <p:nvSpPr>
          <p:cNvPr id="23" name="Paso 3 número"/>
          <p:cNvSpPr txBox="1"/>
          <p:nvPr/>
        </p:nvSpPr>
        <p:spPr>
          <a:xfrm>
            <a:off x="5202936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Paso 3 área"/>
          <p:cNvSpPr txBox="1"/>
          <p:nvPr/>
        </p:nvSpPr>
        <p:spPr>
          <a:xfrm>
            <a:off x="5175504" y="265176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Comercial</a:t>
            </a:r>
            <a:endParaRPr lang="en-US" sz="1600" dirty="0"/>
          </a:p>
        </p:txBody>
      </p:sp>
      <p:sp>
        <p:nvSpPr>
          <p:cNvPr id="25" name="Paso 3 detalle"/>
          <p:cNvSpPr txBox="1"/>
          <p:nvPr/>
        </p:nvSpPr>
        <p:spPr>
          <a:xfrm>
            <a:off x="5202936" y="33832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Proforma con precios y margen, generada en PDF</a:t>
            </a:r>
            <a:endParaRPr lang="en-US" sz="1400" dirty="0"/>
          </a:p>
        </p:txBody>
      </p:sp>
      <p:sp>
        <p:nvSpPr>
          <p:cNvPr id="26" name="Paso 3 resultado"/>
          <p:cNvSpPr/>
          <p:nvPr/>
        </p:nvSpPr>
        <p:spPr>
          <a:xfrm>
            <a:off x="5065776" y="534924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7" name="Paso 3 vist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5468112"/>
            <a:ext cx="219456" cy="219456"/>
          </a:xfrm>
          <a:prstGeom prst="rect">
            <a:avLst/>
          </a:prstGeom>
        </p:spPr>
      </p:pic>
      <p:sp>
        <p:nvSpPr>
          <p:cNvPr id="28" name="Paso 3 resultado texto"/>
          <p:cNvSpPr txBox="1"/>
          <p:nvPr/>
        </p:nvSpPr>
        <p:spPr>
          <a:xfrm>
            <a:off x="5394960" y="53492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Comercial aprueba</a:t>
            </a:r>
            <a:endParaRPr lang="en-US" sz="1100" dirty="0"/>
          </a:p>
        </p:txBody>
      </p:sp>
      <p:sp>
        <p:nvSpPr>
          <p:cNvPr id="29" name="Paso 4"/>
          <p:cNvSpPr/>
          <p:nvPr/>
        </p:nvSpPr>
        <p:spPr>
          <a:xfrm>
            <a:off x="7278624" y="1508760"/>
            <a:ext cx="2011680" cy="3611880"/>
          </a:xfrm>
          <a:prstGeom prst="roundRect">
            <a:avLst>
              <a:gd name="adj" fmla="val 5455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30" name="Paso 4 ícono"/>
          <p:cNvSpPr/>
          <p:nvPr/>
        </p:nvSpPr>
        <p:spPr>
          <a:xfrm>
            <a:off x="7918704" y="1783080"/>
            <a:ext cx="731520" cy="7315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31" name="Paso 4 ícono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899" y="1973275"/>
            <a:ext cx="351130" cy="351130"/>
          </a:xfrm>
          <a:prstGeom prst="rect">
            <a:avLst/>
          </a:prstGeom>
        </p:spPr>
      </p:pic>
      <p:sp>
        <p:nvSpPr>
          <p:cNvPr id="32" name="Paso 4 número"/>
          <p:cNvSpPr txBox="1"/>
          <p:nvPr/>
        </p:nvSpPr>
        <p:spPr>
          <a:xfrm>
            <a:off x="7415784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Paso 4 área"/>
          <p:cNvSpPr txBox="1"/>
          <p:nvPr/>
        </p:nvSpPr>
        <p:spPr>
          <a:xfrm>
            <a:off x="7388352" y="265176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Proyectos y Bodega</a:t>
            </a:r>
            <a:endParaRPr lang="en-US" sz="1600" dirty="0"/>
          </a:p>
        </p:txBody>
      </p:sp>
      <p:sp>
        <p:nvSpPr>
          <p:cNvPr id="34" name="Paso 4 detalle"/>
          <p:cNvSpPr txBox="1"/>
          <p:nvPr/>
        </p:nvSpPr>
        <p:spPr>
          <a:xfrm>
            <a:off x="7415784" y="33832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Asigna técnicos y fechas; entrega los materiales del proyecto</a:t>
            </a:r>
            <a:endParaRPr lang="en-US" sz="1400" dirty="0"/>
          </a:p>
        </p:txBody>
      </p:sp>
      <p:sp>
        <p:nvSpPr>
          <p:cNvPr id="35" name="Paso 4 resultado"/>
          <p:cNvSpPr/>
          <p:nvPr/>
        </p:nvSpPr>
        <p:spPr>
          <a:xfrm>
            <a:off x="7278624" y="534924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55000"/>
              </a:schemeClr>
            </a:solidFill>
            <a:prstDash val="solid"/>
          </a:ln>
        </p:spPr>
      </p:sp>
      <p:sp>
        <p:nvSpPr>
          <p:cNvPr id="36" name="Paso 4 resultado texto"/>
          <p:cNvSpPr txBox="1"/>
          <p:nvPr/>
        </p:nvSpPr>
        <p:spPr>
          <a:xfrm>
            <a:off x="7370064" y="5349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Entrega de material</a:t>
            </a:r>
            <a:endParaRPr lang="en-US" sz="1100" dirty="0"/>
          </a:p>
        </p:txBody>
      </p:sp>
      <p:sp>
        <p:nvSpPr>
          <p:cNvPr id="37" name="Paso 5"/>
          <p:cNvSpPr/>
          <p:nvPr/>
        </p:nvSpPr>
        <p:spPr>
          <a:xfrm>
            <a:off x="9491472" y="1508760"/>
            <a:ext cx="2011680" cy="3611880"/>
          </a:xfrm>
          <a:prstGeom prst="roundRect">
            <a:avLst>
              <a:gd name="adj" fmla="val 5455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38" name="Paso 5 ícono"/>
          <p:cNvSpPr/>
          <p:nvPr/>
        </p:nvSpPr>
        <p:spPr>
          <a:xfrm>
            <a:off x="10131552" y="1783080"/>
            <a:ext cx="731520" cy="7315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39" name="Paso 5 ícono i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1747" y="1973275"/>
            <a:ext cx="351130" cy="351130"/>
          </a:xfrm>
          <a:prstGeom prst="rect">
            <a:avLst/>
          </a:prstGeom>
        </p:spPr>
      </p:pic>
      <p:sp>
        <p:nvSpPr>
          <p:cNvPr id="40" name="Paso 5 número"/>
          <p:cNvSpPr txBox="1"/>
          <p:nvPr/>
        </p:nvSpPr>
        <p:spPr>
          <a:xfrm>
            <a:off x="9628632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Paso 5 área"/>
          <p:cNvSpPr txBox="1"/>
          <p:nvPr/>
        </p:nvSpPr>
        <p:spPr>
          <a:xfrm>
            <a:off x="9601200" y="265176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Financiera</a:t>
            </a:r>
            <a:endParaRPr lang="en-US" sz="1600" dirty="0"/>
          </a:p>
        </p:txBody>
      </p:sp>
      <p:sp>
        <p:nvSpPr>
          <p:cNvPr id="42" name="Paso 5 detalle"/>
          <p:cNvSpPr txBox="1"/>
          <p:nvPr/>
        </p:nvSpPr>
        <p:spPr>
          <a:xfrm>
            <a:off x="9628632" y="33832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Factura con el valor de la proforma y seguimiento del cobro</a:t>
            </a:r>
            <a:endParaRPr lang="en-US" sz="1400" dirty="0"/>
          </a:p>
        </p:txBody>
      </p:sp>
      <p:sp>
        <p:nvSpPr>
          <p:cNvPr id="43" name="Paso 5 resultado"/>
          <p:cNvSpPr/>
          <p:nvPr/>
        </p:nvSpPr>
        <p:spPr>
          <a:xfrm>
            <a:off x="9491472" y="534924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4" name="Paso 5 vist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9488" y="5468112"/>
            <a:ext cx="219456" cy="219456"/>
          </a:xfrm>
          <a:prstGeom prst="rect">
            <a:avLst/>
          </a:prstGeom>
        </p:spPr>
      </p:pic>
      <p:sp>
        <p:nvSpPr>
          <p:cNvPr id="45" name="Paso 5 resultado texto"/>
          <p:cNvSpPr txBox="1"/>
          <p:nvPr/>
        </p:nvSpPr>
        <p:spPr>
          <a:xfrm>
            <a:off x="9820656" y="53492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Cobro y cierre</a:t>
            </a:r>
            <a:endParaRPr lang="en-US" sz="1100" dirty="0"/>
          </a:p>
        </p:txBody>
      </p:sp>
      <p:sp>
        <p:nvSpPr>
          <p:cNvPr id="46" name="Nota trazabilidad"/>
          <p:cNvSpPr txBox="1"/>
          <p:nvPr/>
        </p:nvSpPr>
        <p:spPr>
          <a:xfrm>
            <a:off x="640080" y="59893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Cada traspaso entre áreas queda registrado: quién lo hizo, cuándo y hacia qué área.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Bodega: del Excel al inventario en línea</a:t>
            </a:r>
            <a:endParaRPr lang="en-US" sz="3200" dirty="0"/>
          </a:p>
        </p:txBody>
      </p:sp>
      <p:sp>
        <p:nvSpPr>
          <p:cNvPr id="3" name="Bodega ícono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4" name="Bodega ícono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814170"/>
            <a:ext cx="395021" cy="395021"/>
          </a:xfrm>
          <a:prstGeom prst="rect">
            <a:avLst/>
          </a:prstGeom>
        </p:spPr>
      </p:pic>
      <p:sp>
        <p:nvSpPr>
          <p:cNvPr id="5" name="Mensaje bodega"/>
          <p:cNvSpPr txBox="1"/>
          <p:nvPr/>
        </p:nvSpPr>
        <p:spPr>
          <a:xfrm>
            <a:off x="640080" y="2606040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Cada material entregado queda ligado a su proyecto, a su técnico y a la proforma aprobada</a:t>
            </a:r>
            <a:endParaRPr lang="en-US" sz="2200" dirty="0"/>
          </a:p>
        </p:txBody>
      </p:sp>
      <p:sp>
        <p:nvSpPr>
          <p:cNvPr id="6" name="Apoyo bodega"/>
          <p:cNvSpPr txBox="1"/>
          <p:nvPr/>
        </p:nvSpPr>
        <p:spPr>
          <a:xfrm>
            <a:off x="640080" y="45262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 stock y las entregas se consultan en la plataforma, sin archivos paralelos.</a:t>
            </a:r>
            <a:endParaRPr lang="en-US" sz="1400" dirty="0"/>
          </a:p>
        </p:txBody>
      </p:sp>
      <p:sp>
        <p:nvSpPr>
          <p:cNvPr id="7" name="Bodega 1"/>
          <p:cNvSpPr/>
          <p:nvPr/>
        </p:nvSpPr>
        <p:spPr>
          <a:xfrm>
            <a:off x="4892040" y="150876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8" name="Bodega 1 ícono"/>
          <p:cNvSpPr/>
          <p:nvPr/>
        </p:nvSpPr>
        <p:spPr>
          <a:xfrm>
            <a:off x="5148072" y="1764792"/>
            <a:ext cx="548640" cy="54864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9" name="Bodega 1 ícon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718" y="1907438"/>
            <a:ext cx="263347" cy="263347"/>
          </a:xfrm>
          <a:prstGeom prst="rect">
            <a:avLst/>
          </a:prstGeom>
        </p:spPr>
      </p:pic>
      <p:sp>
        <p:nvSpPr>
          <p:cNvPr id="10" name="Bodega 1 título"/>
          <p:cNvSpPr txBox="1"/>
          <p:nvPr/>
        </p:nvSpPr>
        <p:spPr>
          <a:xfrm>
            <a:off x="5148072" y="2404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Stock al día</a:t>
            </a:r>
            <a:endParaRPr lang="en-US" sz="1600" dirty="0"/>
          </a:p>
        </p:txBody>
      </p:sp>
      <p:sp>
        <p:nvSpPr>
          <p:cNvPr id="11" name="Bodega 1 detalle"/>
          <p:cNvSpPr txBox="1"/>
          <p:nvPr/>
        </p:nvSpPr>
        <p:spPr>
          <a:xfrm>
            <a:off x="5148072" y="28346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Cada entrega se descuenta automáticamente del catálogo</a:t>
            </a:r>
            <a:endParaRPr lang="en-US" sz="1400" dirty="0"/>
          </a:p>
        </p:txBody>
      </p:sp>
      <p:sp>
        <p:nvSpPr>
          <p:cNvPr id="12" name="Bodega 2"/>
          <p:cNvSpPr/>
          <p:nvPr/>
        </p:nvSpPr>
        <p:spPr>
          <a:xfrm>
            <a:off x="8321040" y="150876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3" name="Bodega 2 ícono"/>
          <p:cNvSpPr/>
          <p:nvPr/>
        </p:nvSpPr>
        <p:spPr>
          <a:xfrm>
            <a:off x="8577072" y="1764792"/>
            <a:ext cx="548640" cy="54864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14" name="Bodega 2 ícono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718" y="1907438"/>
            <a:ext cx="263347" cy="263347"/>
          </a:xfrm>
          <a:prstGeom prst="rect">
            <a:avLst/>
          </a:prstGeom>
        </p:spPr>
      </p:pic>
      <p:sp>
        <p:nvSpPr>
          <p:cNvPr id="15" name="Bodega 2 título"/>
          <p:cNvSpPr txBox="1"/>
          <p:nvPr/>
        </p:nvSpPr>
        <p:spPr>
          <a:xfrm>
            <a:off x="8577072" y="2404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Entregas con control</a:t>
            </a:r>
            <a:endParaRPr lang="en-US" sz="1600" dirty="0"/>
          </a:p>
        </p:txBody>
      </p:sp>
      <p:sp>
        <p:nvSpPr>
          <p:cNvPr id="16" name="Bodega 2 detalle"/>
          <p:cNvSpPr txBox="1"/>
          <p:nvPr/>
        </p:nvSpPr>
        <p:spPr>
          <a:xfrm>
            <a:off x="8577072" y="28346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 se entrega más de lo aprobado ni más del stock disponible</a:t>
            </a:r>
            <a:endParaRPr lang="en-US" sz="1400" dirty="0"/>
          </a:p>
        </p:txBody>
      </p:sp>
      <p:sp>
        <p:nvSpPr>
          <p:cNvPr id="17" name="Bodega 3"/>
          <p:cNvSpPr/>
          <p:nvPr/>
        </p:nvSpPr>
        <p:spPr>
          <a:xfrm>
            <a:off x="4892040" y="393192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8" name="Bodega 3 ícono"/>
          <p:cNvSpPr/>
          <p:nvPr/>
        </p:nvSpPr>
        <p:spPr>
          <a:xfrm>
            <a:off x="5148072" y="4187952"/>
            <a:ext cx="548640" cy="54864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19" name="Bodega 3 ícono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0718" y="4330598"/>
            <a:ext cx="263347" cy="263347"/>
          </a:xfrm>
          <a:prstGeom prst="rect">
            <a:avLst/>
          </a:prstGeom>
        </p:spPr>
      </p:pic>
      <p:sp>
        <p:nvSpPr>
          <p:cNvPr id="20" name="Bodega 3 título"/>
          <p:cNvSpPr txBox="1"/>
          <p:nvPr/>
        </p:nvSpPr>
        <p:spPr>
          <a:xfrm>
            <a:off x="5148072" y="48280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Productos nuevos</a:t>
            </a:r>
            <a:endParaRPr lang="en-US" sz="1600" dirty="0"/>
          </a:p>
        </p:txBody>
      </p:sp>
      <p:sp>
        <p:nvSpPr>
          <p:cNvPr id="21" name="Bodega 3 detalle"/>
          <p:cNvSpPr txBox="1"/>
          <p:nvPr/>
        </p:nvSpPr>
        <p:spPr>
          <a:xfrm>
            <a:off x="5148072" y="5257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 cotizado que aún no existe queda pendiente y se crea al llegar</a:t>
            </a:r>
            <a:endParaRPr lang="en-US" sz="1400" dirty="0"/>
          </a:p>
        </p:txBody>
      </p:sp>
      <p:sp>
        <p:nvSpPr>
          <p:cNvPr id="22" name="Bodega 4"/>
          <p:cNvSpPr/>
          <p:nvPr/>
        </p:nvSpPr>
        <p:spPr>
          <a:xfrm>
            <a:off x="8321040" y="393192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23" name="Bodega 4 ícono"/>
          <p:cNvSpPr/>
          <p:nvPr/>
        </p:nvSpPr>
        <p:spPr>
          <a:xfrm>
            <a:off x="8577072" y="4187952"/>
            <a:ext cx="548640" cy="54864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24" name="Bodega 4 ícono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718" y="4330598"/>
            <a:ext cx="263347" cy="263347"/>
          </a:xfrm>
          <a:prstGeom prst="rect">
            <a:avLst/>
          </a:prstGeom>
        </p:spPr>
      </p:pic>
      <p:sp>
        <p:nvSpPr>
          <p:cNvPr id="25" name="Bodega 4 título"/>
          <p:cNvSpPr txBox="1"/>
          <p:nvPr/>
        </p:nvSpPr>
        <p:spPr>
          <a:xfrm>
            <a:off x="8577072" y="48280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Historial por proyecto</a:t>
            </a:r>
            <a:endParaRPr lang="en-US" sz="1600" dirty="0"/>
          </a:p>
        </p:txBody>
      </p:sp>
      <p:sp>
        <p:nvSpPr>
          <p:cNvPr id="26" name="Bodega 4 detalle"/>
          <p:cNvSpPr txBox="1"/>
          <p:nvPr/>
        </p:nvSpPr>
        <p:spPr>
          <a:xfrm>
            <a:off x="8577072" y="5257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Qué se entregó, cuánto, a qué técnico y cuándo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Lo que gana la empresa y lo que necesitamos</a:t>
            </a:r>
            <a:endParaRPr lang="en-US" sz="3200" dirty="0"/>
          </a:p>
        </p:txBody>
      </p:sp>
      <p:sp>
        <p:nvSpPr>
          <p:cNvPr id="3" name="Beneficios"/>
          <p:cNvSpPr/>
          <p:nvPr/>
        </p:nvSpPr>
        <p:spPr>
          <a:xfrm>
            <a:off x="640080" y="1463040"/>
            <a:ext cx="5212080" cy="4617720"/>
          </a:xfrm>
          <a:prstGeom prst="roundRect">
            <a:avLst>
              <a:gd name="adj" fmla="val 2376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4" name="Beneficios encabezado"/>
          <p:cNvSpPr/>
          <p:nvPr/>
        </p:nvSpPr>
        <p:spPr>
          <a:xfrm>
            <a:off x="896112" y="1691640"/>
            <a:ext cx="27432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" name="Beneficios encabezado texto"/>
          <p:cNvSpPr txBox="1"/>
          <p:nvPr/>
        </p:nvSpPr>
        <p:spPr>
          <a:xfrm>
            <a:off x="896112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PARA LA GERENCIA</a:t>
            </a:r>
            <a:endParaRPr lang="en-US" sz="1300" dirty="0"/>
          </a:p>
        </p:txBody>
      </p:sp>
      <p:sp>
        <p:nvSpPr>
          <p:cNvPr id="6" name="Beneficio 1 ícono"/>
          <p:cNvSpPr/>
          <p:nvPr/>
        </p:nvSpPr>
        <p:spPr>
          <a:xfrm>
            <a:off x="896112" y="2450592"/>
            <a:ext cx="548640" cy="54864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7" name="Beneficio 1 ícono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593238"/>
            <a:ext cx="263347" cy="263347"/>
          </a:xfrm>
          <a:prstGeom prst="rect">
            <a:avLst/>
          </a:prstGeom>
        </p:spPr>
      </p:pic>
      <p:sp>
        <p:nvSpPr>
          <p:cNvPr id="8" name="Beneficio 1"/>
          <p:cNvSpPr txBox="1"/>
          <p:nvPr/>
        </p:nvSpPr>
        <p:spPr>
          <a:xfrm>
            <a:off x="1645920" y="237744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Estado de cada caso y tablero con indicadores</a:t>
            </a:r>
            <a:endParaRPr lang="en-US" sz="1500" dirty="0"/>
          </a:p>
        </p:txBody>
      </p:sp>
      <p:sp>
        <p:nvSpPr>
          <p:cNvPr id="9" name="Beneficio 2 ícono"/>
          <p:cNvSpPr/>
          <p:nvPr/>
        </p:nvSpPr>
        <p:spPr>
          <a:xfrm>
            <a:off x="896112" y="3319272"/>
            <a:ext cx="548640" cy="54864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10" name="Beneficio 2 ícon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3461918"/>
            <a:ext cx="263347" cy="263347"/>
          </a:xfrm>
          <a:prstGeom prst="rect">
            <a:avLst/>
          </a:prstGeom>
        </p:spPr>
      </p:pic>
      <p:sp>
        <p:nvSpPr>
          <p:cNvPr id="11" name="Beneficio 2"/>
          <p:cNvSpPr txBox="1"/>
          <p:nvPr/>
        </p:nvSpPr>
        <p:spPr>
          <a:xfrm>
            <a:off x="1645920" y="324612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Decisiones con datos confiables, sin versiones de Excel</a:t>
            </a:r>
            <a:endParaRPr lang="en-US" sz="1500" dirty="0"/>
          </a:p>
        </p:txBody>
      </p:sp>
      <p:sp>
        <p:nvSpPr>
          <p:cNvPr id="12" name="Beneficio 3 ícono"/>
          <p:cNvSpPr/>
          <p:nvPr/>
        </p:nvSpPr>
        <p:spPr>
          <a:xfrm>
            <a:off x="896112" y="4187952"/>
            <a:ext cx="548640" cy="54864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13" name="Beneficio 3 ícono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4330598"/>
            <a:ext cx="263347" cy="263347"/>
          </a:xfrm>
          <a:prstGeom prst="rect">
            <a:avLst/>
          </a:prstGeom>
        </p:spPr>
      </p:pic>
      <p:sp>
        <p:nvSpPr>
          <p:cNvPr id="14" name="Beneficio 3"/>
          <p:cNvSpPr txBox="1"/>
          <p:nvPr/>
        </p:nvSpPr>
        <p:spPr>
          <a:xfrm>
            <a:off x="1645920" y="411480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Menos reprocesos y conflictos entre áreas</a:t>
            </a:r>
            <a:endParaRPr lang="en-US" sz="1500" dirty="0"/>
          </a:p>
        </p:txBody>
      </p:sp>
      <p:sp>
        <p:nvSpPr>
          <p:cNvPr id="15" name="Beneficio 4 ícono"/>
          <p:cNvSpPr/>
          <p:nvPr/>
        </p:nvSpPr>
        <p:spPr>
          <a:xfrm>
            <a:off x="896112" y="5056632"/>
            <a:ext cx="548640" cy="54864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alpha val="65000"/>
              </a:schemeClr>
            </a:solidFill>
            <a:prstDash val="solid"/>
          </a:ln>
        </p:spPr>
      </p:sp>
      <p:pic>
        <p:nvPicPr>
          <p:cNvPr id="16" name="Beneficio 4 ícono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5199278"/>
            <a:ext cx="263347" cy="263347"/>
          </a:xfrm>
          <a:prstGeom prst="rect">
            <a:avLst/>
          </a:prstGeom>
        </p:spPr>
      </p:pic>
      <p:sp>
        <p:nvSpPr>
          <p:cNvPr id="17" name="Beneficio 4"/>
          <p:cNvSpPr txBox="1"/>
          <p:nvPr/>
        </p:nvSpPr>
        <p:spPr>
          <a:xfrm>
            <a:off x="1645920" y="498348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Proformas y documentos centralizados y descargables</a:t>
            </a:r>
            <a:endParaRPr lang="en-US" sz="1500" dirty="0"/>
          </a:p>
        </p:txBody>
      </p:sp>
      <p:sp>
        <p:nvSpPr>
          <p:cNvPr id="18" name="Compromisos"/>
          <p:cNvSpPr/>
          <p:nvPr/>
        </p:nvSpPr>
        <p:spPr>
          <a:xfrm>
            <a:off x="6172200" y="1463040"/>
            <a:ext cx="5394960" cy="4617720"/>
          </a:xfrm>
          <a:prstGeom prst="roundRect">
            <a:avLst>
              <a:gd name="adj" fmla="val 2376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9" name="Compromisos encabezado"/>
          <p:cNvSpPr/>
          <p:nvPr/>
        </p:nvSpPr>
        <p:spPr>
          <a:xfrm>
            <a:off x="6428232" y="1691640"/>
            <a:ext cx="356616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Compromisos encabezado texto"/>
          <p:cNvSpPr txBox="1"/>
          <p:nvPr/>
        </p:nvSpPr>
        <p:spPr>
          <a:xfrm>
            <a:off x="6428232" y="1691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COMPROMISO DE CADA ÁREA</a:t>
            </a:r>
            <a:endParaRPr lang="en-US" sz="1300" dirty="0"/>
          </a:p>
        </p:txBody>
      </p:sp>
      <p:sp>
        <p:nvSpPr>
          <p:cNvPr id="21" name="Compromiso 1"/>
          <p:cNvSpPr txBox="1"/>
          <p:nvPr/>
        </p:nvSpPr>
        <p:spPr>
          <a:xfrm>
            <a:off x="6428232" y="233172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Técnica: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registrar todos los materiales en la visita</a:t>
            </a:r>
            <a:endParaRPr lang="en-US" sz="1500" dirty="0"/>
          </a:p>
        </p:txBody>
      </p:sp>
      <p:sp>
        <p:nvSpPr>
          <p:cNvPr id="22" name="Compromiso 2"/>
          <p:cNvSpPr txBox="1"/>
          <p:nvPr/>
        </p:nvSpPr>
        <p:spPr>
          <a:xfrm>
            <a:off x="6428232" y="30632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Comercial: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cotizar y actualizar el estado en la plataforma</a:t>
            </a:r>
            <a:endParaRPr lang="en-US" sz="1500" dirty="0"/>
          </a:p>
        </p:txBody>
      </p:sp>
      <p:sp>
        <p:nvSpPr>
          <p:cNvPr id="23" name="Compromiso 3"/>
          <p:cNvSpPr txBox="1"/>
          <p:nvPr/>
        </p:nvSpPr>
        <p:spPr>
          <a:xfrm>
            <a:off x="6428232" y="37947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Bodega: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mantener el catálogo y registrar cada entrega</a:t>
            </a:r>
            <a:endParaRPr lang="en-US" sz="1500" dirty="0"/>
          </a:p>
        </p:txBody>
      </p:sp>
      <p:sp>
        <p:nvSpPr>
          <p:cNvPr id="24" name="Compromiso 4"/>
          <p:cNvSpPr txBox="1"/>
          <p:nvPr/>
        </p:nvSpPr>
        <p:spPr>
          <a:xfrm>
            <a:off x="6428232" y="452628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Financiera: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registrar facturas y seguimientos de cobro</a:t>
            </a:r>
            <a:endParaRPr lang="en-US" sz="1500" dirty="0"/>
          </a:p>
        </p:txBody>
      </p:sp>
      <p:sp>
        <p:nvSpPr>
          <p:cNvPr id="25" name="Compromiso 5"/>
          <p:cNvSpPr txBox="1"/>
          <p:nvPr/>
        </p:nvSpPr>
        <p:spPr>
          <a:xfrm>
            <a:off x="6428232" y="525780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Jefaturas: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aprobar a tiempo para no detener el flujo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leArseg">
  <a:themeElements>
    <a:clrScheme name="TeleArseg">
      <a:dk1>
        <a:srgbClr val="0B1638"/>
      </a:dk1>
      <a:lt1>
        <a:srgbClr val="FFFFFF"/>
      </a:lt1>
      <a:dk2>
        <a:srgbClr val="0A2A6B"/>
      </a:dk2>
      <a:lt2>
        <a:srgbClr val="C8D9FF"/>
      </a:lt2>
      <a:accent1>
        <a:srgbClr val="1E6BFF"/>
      </a:accent1>
      <a:accent2>
        <a:srgbClr val="7FB2FF"/>
      </a:accent2>
      <a:accent3>
        <a:srgbClr val="0B3FA8"/>
      </a:accent3>
      <a:accent4>
        <a:srgbClr val="3DDC97"/>
      </a:accent4>
      <a:accent5>
        <a:srgbClr val="FF8A80"/>
      </a:accent5>
      <a:accent6>
        <a:srgbClr val="FFC857"/>
      </a:accent6>
      <a:hlink>
        <a:srgbClr val="7FB2FF"/>
      </a:hlink>
      <a:folHlink>
        <a:srgbClr val="C8D9FF"/>
      </a:folHlink>
    </a:clrScheme>
    <a:fontScheme name="TeleArseg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TeleArseg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Gestión de Inspecciones y Proyectos</dc:title>
  <dc:subject>PptxGenJS Presentation</dc:subject>
  <dc:creator>Daniel Males</dc:creator>
  <cp:lastModifiedBy>Daniel Males</cp:lastModifiedBy>
  <cp:revision>1</cp:revision>
  <dcterms:created xsi:type="dcterms:W3CDTF">2026-10-16T19:35:57Z</dcterms:created>
  <dcterms:modified xsi:type="dcterms:W3CDTF">2026-10-16T19:35:57Z</dcterms:modified>
</cp:coreProperties>
</file>